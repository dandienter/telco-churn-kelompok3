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6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91440"/>
            <a:ext cx="2011680" cy="20116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394960"/>
            <a:ext cx="2926080" cy="2926080"/>
          </a:xfrm>
          <a:prstGeom prst="ellipse">
            <a:avLst/>
          </a:prstGeom>
          <a:solidFill>
            <a:srgbClr val="26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C000"/>
                </a:solidFill>
                <a:latin typeface="Calibri"/>
              </a:defRPr>
            </a:pPr>
            <a:r>
              <a:t>MATA KULIAH  • 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 i="0">
                <a:solidFill>
                  <a:srgbClr val="FFFFFF"/>
                </a:solidFill>
                <a:latin typeface="Calibri"/>
              </a:defRPr>
            </a:pPr>
            <a:r>
              <a:t>Data Preparation</a:t>
            </a:r>
          </a:p>
          <a:p>
            <a:pPr>
              <a:spcBef>
                <a:spcPts val="200"/>
              </a:spcBef>
              <a:defRPr sz="5000" b="1">
                <a:solidFill>
                  <a:srgbClr val="FFC000"/>
                </a:solidFill>
                <a:latin typeface="Calibri"/>
              </a:defRPr>
            </a:pPr>
            <a:r>
              <a:t>Lanjutan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3429000"/>
            <a:ext cx="1463040" cy="76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3749039"/>
            <a:ext cx="6035040" cy="685800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F2F2F2"/>
                </a:solidFill>
                <a:latin typeface="Calibri"/>
              </a:defRPr>
            </a:pPr>
            <a:r>
              <a:t>Missing Values   •   Outlier   •   Imbalanced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720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F2F2F2"/>
                </a:solidFill>
                <a:latin typeface="Calibri"/>
              </a:defRPr>
            </a:pPr>
            <a:r>
              <a:t>Studi Kasus: Prediksi Telco Customer Churn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005840"/>
            <a:ext cx="33832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0" y="1005840"/>
            <a:ext cx="3383280" cy="12801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3258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F3864"/>
                </a:solidFill>
                <a:latin typeface="Calibri"/>
              </a:defRPr>
            </a:pPr>
            <a:r>
              <a:t>KELOMPOK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828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595959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2331720"/>
            <a:ext cx="2651760" cy="25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56032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F3864"/>
                </a:solidFill>
                <a:latin typeface="Calibri"/>
              </a:defRPr>
            </a:pPr>
            <a:r>
              <a:t>1.  Frisilia Elfira Maharani</a:t>
            </a:r>
          </a:p>
          <a:p>
            <a:pPr>
              <a:spcBef>
                <a:spcPts val="1000"/>
              </a:spcBef>
              <a:defRPr sz="1600" b="0">
                <a:solidFill>
                  <a:srgbClr val="1F3864"/>
                </a:solidFill>
                <a:latin typeface="Calibri"/>
              </a:defRPr>
            </a:pPr>
            <a:r>
              <a:t>2.  Febyana Mulia Putri</a:t>
            </a:r>
          </a:p>
          <a:p>
            <a:pPr>
              <a:spcBef>
                <a:spcPts val="1000"/>
              </a:spcBef>
              <a:defRPr sz="1600" b="0">
                <a:solidFill>
                  <a:srgbClr val="1F3864"/>
                </a:solidFill>
                <a:latin typeface="Calibri"/>
              </a:defRPr>
            </a:pPr>
            <a:r>
              <a:t>3.  Wanda Nurhasanah</a:t>
            </a:r>
          </a:p>
          <a:p>
            <a:pPr>
              <a:spcBef>
                <a:spcPts val="1000"/>
              </a:spcBef>
              <a:defRPr sz="1600" b="0">
                <a:solidFill>
                  <a:srgbClr val="1F3864"/>
                </a:solidFill>
                <a:latin typeface="Calibri"/>
              </a:defRPr>
            </a:pPr>
            <a:r>
              <a:t>4.  Muhammad Revolvere Rey A</a:t>
            </a:r>
          </a:p>
          <a:p>
            <a:pPr>
              <a:spcBef>
                <a:spcPts val="1000"/>
              </a:spcBef>
              <a:defRPr sz="1600" b="0">
                <a:solidFill>
                  <a:srgbClr val="1F3864"/>
                </a:solidFill>
                <a:latin typeface="Calibri"/>
              </a:defRPr>
            </a:pPr>
            <a:r>
              <a:t>5.  Ahmad Dandi Subhani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Tujuan Pembelajaran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Setelah presentasi ini, kita mampu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1. Mendiagnosis missing values</a:t>
            </a:r>
          </a:p>
          <a:p>
            <a:pPr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 dan memilih strategi imputasi yang sesuai.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 Mendeteksi serta menilai outlier</a:t>
            </a:r>
          </a:p>
          <a:p>
            <a:pPr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 sebelum memutuskan menghapus atau mempertahankannya.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3. Menangani imbalanced data</a:t>
            </a:r>
          </a:p>
          <a:p>
            <a:pPr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 dengan SMOTE secara benar (hanya pada data train).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4. Membangun alur preprocessing yang aman</a:t>
            </a:r>
          </a:p>
          <a:p>
            <a:pPr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   dan mengevaluasi model dengan metrik yang jujur.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Dataset: Telco Customer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Data nyata 7.043 pelanggan layanan telekomunikasi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Calibri"/>
              </a:defRPr>
            </a:pPr>
            <a:r>
              <a:t>Target: Churn (Yes / No)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   Apakah pelanggan berhenti berlangganan?</a:t>
            </a:r>
          </a:p>
          <a:p>
            <a:pPr>
              <a:spcBef>
                <a:spcPts val="600"/>
              </a:spcBef>
              <a:defRPr sz="2100" b="1">
                <a:solidFill>
                  <a:srgbClr val="FFFFFF"/>
                </a:solidFill>
                <a:latin typeface="Calibri"/>
              </a:defRPr>
            </a:pPr>
            <a:r>
              <a:t>21 kolom: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   Demografi (gender, SeniorCitizen, Partner, Dependents), layanan (Phone, Internet, OnlineSecurity, …), kontrak &amp; pembayaran, tagihan (tenure, MonthlyCharges, TotalCharges).</a:t>
            </a:r>
          </a:p>
          <a:p>
            <a:pPr>
              <a:spcBef>
                <a:spcPts val="600"/>
              </a:spcBef>
              <a:defRPr sz="2100" b="1">
                <a:solidFill>
                  <a:srgbClr val="FFFFFF"/>
                </a:solidFill>
                <a:latin typeface="Calibri"/>
              </a:defRPr>
            </a:pPr>
            <a:r>
              <a:t>Fakta awal: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   • 0 data duplikat — data bersih dari sisi duplikasi.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   • TotalCharges terbaca sebagai teks karena ada 11 sel kosong (spasi).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   • Churn = Yes hanya 26,5% → data tidak seimbang.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Tiga Masalah Data, Tiga Keputusan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Temuan pada dataset Telco Churn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C0504D"/>
                </a:solidFill>
                <a:latin typeface="Calibri"/>
              </a:defRPr>
            </a:pPr>
            <a:r>
              <a:t>MISSING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95959"/>
                </a:solidFill>
                <a:latin typeface="Calibri"/>
              </a:defRPr>
            </a:pPr>
            <a:r>
              <a:t>11 baris kosong di TotalCharges.</a:t>
            </a:r>
          </a:p>
          <a:p>
            <a:pPr>
              <a:spcBef>
                <a:spcPts val="800"/>
              </a:spcBef>
              <a:defRPr sz="1800" b="0">
                <a:solidFill>
                  <a:srgbClr val="595959"/>
                </a:solidFill>
                <a:latin typeface="Calibri"/>
              </a:defRPr>
            </a:pPr>
            <a:r>
              <a:t>Ternyata: pelanggan baru (tenure = 0) — tagihannya memang belum ada.</a:t>
            </a:r>
          </a:p>
          <a:p>
            <a:pPr>
              <a:spcBef>
                <a:spcPts val="800"/>
              </a:spcBef>
              <a:defRPr sz="1800" b="0">
                <a:solidFill>
                  <a:srgbClr val="595959"/>
                </a:solidFill>
                <a:latin typeface="Calibri"/>
              </a:defRPr>
            </a:pPr>
            <a:r>
              <a:t>Keputusan: imputasi, bukan hapus.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9202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148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2E5395"/>
                </a:solidFill>
                <a:latin typeface="Calibri"/>
              </a:defRPr>
            </a:pPr>
            <a:r>
              <a:t>OUTLIER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260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95959"/>
                </a:solidFill>
                <a:latin typeface="Calibri"/>
              </a:defRPr>
            </a:pPr>
            <a:r>
              <a:t>113 baris (2%) terdeteksi Isolation Forest.</a:t>
            </a:r>
          </a:p>
          <a:p>
            <a:pPr>
              <a:spcBef>
                <a:spcPts val="800"/>
              </a:spcBef>
              <a:defRPr sz="1800" b="0">
                <a:solidFill>
                  <a:srgbClr val="595959"/>
                </a:solidFill>
                <a:latin typeface="Calibri"/>
              </a:defRPr>
            </a:pPr>
            <a:r>
              <a:t>Ternyata: pelanggan tenure sangat panjang — kejadian sah.</a:t>
            </a:r>
          </a:p>
          <a:p>
            <a:pPr>
              <a:spcBef>
                <a:spcPts val="800"/>
              </a:spcBef>
              <a:defRPr sz="1800" b="0">
                <a:solidFill>
                  <a:srgbClr val="595959"/>
                </a:solidFill>
                <a:latin typeface="Calibri"/>
              </a:defRPr>
            </a:pPr>
            <a:r>
              <a:t>Keputusan: dipertahankan, bukan dibuang.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9202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488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4C9F70"/>
                </a:solidFill>
                <a:latin typeface="Calibri"/>
              </a:defRPr>
            </a:pPr>
            <a:r>
              <a:t>IMBALANCED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260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95959"/>
                </a:solidFill>
                <a:latin typeface="Calibri"/>
              </a:defRPr>
            </a:pPr>
            <a:r>
              <a:t>Churn Yes : No = 26,5% : 73,5%.</a:t>
            </a:r>
          </a:p>
          <a:p>
            <a:pPr>
              <a:spcBef>
                <a:spcPts val="800"/>
              </a:spcBef>
              <a:defRPr sz="1800" b="0">
                <a:solidFill>
                  <a:srgbClr val="595959"/>
                </a:solidFill>
                <a:latin typeface="Calibri"/>
              </a:defRPr>
            </a:pPr>
            <a:r>
              <a:t>Risiko: model "malas", selalu menebak Tidak Churn.</a:t>
            </a:r>
          </a:p>
          <a:p>
            <a:pPr>
              <a:spcBef>
                <a:spcPts val="800"/>
              </a:spcBef>
              <a:defRPr sz="1800" b="0">
                <a:solidFill>
                  <a:srgbClr val="595959"/>
                </a:solidFill>
                <a:latin typeface="Calibri"/>
              </a:defRPr>
            </a:pPr>
            <a:r>
              <a:t>Keputusan: SMOTE hanya pada data train.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Aturan Aman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Agar model tidak "mencontek" dari data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011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5395"/>
                </a:solidFill>
                <a:latin typeface="Calibri"/>
              </a:defRPr>
            </a:pPr>
            <a:r>
              <a:t>1.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1463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95959"/>
                </a:solidFill>
                <a:latin typeface="Calibri"/>
              </a:defRPr>
            </a:pPr>
            <a:r>
              <a:t>train &amp; test (stratified) — paling awal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35808" y="2011680"/>
            <a:ext cx="2011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7" y="22402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4C9F70"/>
                </a:solidFill>
                <a:latin typeface="Calibri"/>
              </a:defRPr>
            </a:pPr>
            <a:r>
              <a:t>2.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7" y="3017520"/>
            <a:ext cx="1463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95959"/>
                </a:solidFill>
                <a:latin typeface="Calibri"/>
              </a:defRPr>
            </a:pPr>
            <a:r>
              <a:t>imputer &amp; scaler hanya belajar dari train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48656" y="2011680"/>
            <a:ext cx="2011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2976" y="22402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5395"/>
                </a:solidFill>
                <a:latin typeface="Calibri"/>
              </a:defRPr>
            </a:pPr>
            <a:r>
              <a:t>3.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2976" y="3017520"/>
            <a:ext cx="1463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95959"/>
                </a:solidFill>
                <a:latin typeface="Calibri"/>
              </a:defRPr>
            </a:pPr>
            <a:r>
              <a:t>terapkan ke train &amp;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1504" y="2011680"/>
            <a:ext cx="2011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22402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4C9F70"/>
                </a:solidFill>
                <a:latin typeface="Calibri"/>
              </a:defRPr>
            </a:pPr>
            <a:r>
              <a:t>4. RESAMPLE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4" y="3017520"/>
            <a:ext cx="1463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95959"/>
                </a:solidFill>
                <a:latin typeface="Calibri"/>
              </a:defRPr>
            </a:pPr>
            <a:r>
              <a:t>SMOTE hanya pada train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74352" y="2011680"/>
            <a:ext cx="201168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48672" y="22402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E5395"/>
                </a:solidFill>
                <a:latin typeface="Calibri"/>
              </a:defRPr>
            </a:pPr>
            <a:r>
              <a:t>5. EVALUASI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3017520"/>
            <a:ext cx="1463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595959"/>
                </a:solidFill>
                <a:latin typeface="Calibri"/>
              </a:defRPr>
            </a:pPr>
            <a:r>
              <a:t>pada test asli yang tidak seimbang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FFC000"/>
                </a:solidFill>
                <a:latin typeface="Calibri"/>
              </a:defRPr>
            </a:pPr>
            <a:r>
              <a:t>Mean, median, tetangga KNN, dan sampel sintetis TIDAK BOLEH memperoleh informasi dari test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Missing Values → KNN Imputer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Ada informasi yang tidak tercatat — hilang acak atau berpola?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 i="0">
                <a:solidFill>
                  <a:srgbClr val="FFFFFF"/>
                </a:solidFill>
                <a:latin typeface="Calibri"/>
              </a:defRPr>
            </a:pPr>
            <a:r>
              <a:t>Temuan: 11 missing di TotalCharges = pelanggan baru (tenure 0). Ini berpola (MAR), bukan acak.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Menghapus barisnya = membuang segmen pelanggan baru → bias.</a:t>
            </a:r>
          </a:p>
          <a:p>
            <a:pPr>
              <a:spcBef>
                <a:spcPts val="600"/>
              </a:spcBef>
              <a:defRPr sz="2100" b="1">
                <a:solidFill>
                  <a:srgbClr val="FFFFFF"/>
                </a:solidFill>
                <a:latin typeface="Calibri"/>
              </a:defRPr>
            </a:pPr>
            <a:r>
              <a:t>Solusi: KNN Imputer (k=5)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   Menebak nilai kosong dari 5 pelanggan paling mirip (tenure, MonthlyCharges, …).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   Fit di train → transform train &amp; test. Hasil: 0 missing tersisa.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Analogi sederhana: nilai rapor yang hilang ditebak dari nilai teman yang paling mirip.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Outlier → Dinilai, Lalu Dipertahankan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Nilai jauh dari mayoritas: kesalahan data atau kejadian langka yang sah?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 i="0">
                <a:solidFill>
                  <a:srgbClr val="FFFFFF"/>
                </a:solidFill>
                <a:latin typeface="Calibri"/>
              </a:defRPr>
            </a:pPr>
            <a:r>
              <a:t>Deteksi: Isolation Forest (contamination=2%) → 113 baris outlier di data train.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Analisis: rata-rata tenure outlier ±48 bulan vs ±32 bulan normal — mereka pelanggan setia lama.</a:t>
            </a:r>
          </a:p>
          <a:p>
            <a:pPr>
              <a:spcBef>
                <a:spcPts val="600"/>
              </a:spcBef>
              <a:defRPr sz="2100" b="1">
                <a:solidFill>
                  <a:srgbClr val="FFFFFF"/>
                </a:solidFill>
                <a:latin typeface="Calibri"/>
              </a:defRPr>
            </a:pPr>
            <a:r>
              <a:t>Keputusan: DIPERTAHANKAN.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   Menghapusnya = membuang pelanggan paling loyal, justru segmen penting untuk analisis churn.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Pelajaran: tidak ada teknik yang selalu benar — keputusan mengikuti konteks domain.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Imbalanced Data → SMOTE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Satu kelas jauh lebih sedikit — apakah model mengabaikan kelas penting?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 i="0">
                <a:solidFill>
                  <a:srgbClr val="FFFFFF"/>
                </a:solidFill>
                <a:latin typeface="Calibri"/>
              </a:defRPr>
            </a:pPr>
            <a:r>
              <a:t>Distribusi train: 4.139 vs 1.495 (26,5% churn).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Tanpa penanganan, model bisa mencapai akurasi "bagus" hanya dengan selalu menebak kelas mayoritas — tapi gagal total mendeteksi churn.</a:t>
            </a:r>
          </a:p>
          <a:p>
            <a:pPr>
              <a:spcBef>
                <a:spcPts val="600"/>
              </a:spcBef>
              <a:defRPr sz="2100" b="1">
                <a:solidFill>
                  <a:srgbClr val="FFFFFF"/>
                </a:solidFill>
                <a:latin typeface="Calibri"/>
              </a:defRPr>
            </a:pPr>
            <a:r>
              <a:t>Solusi: SMOTE membuat sampel sintetis kelas minoritas hingga seimbang (4.139 : 4.139) — HANYA pada data train.</a:t>
            </a:r>
          </a:p>
        </p:txBody>
      </p:sp>
      <p:pic>
        <p:nvPicPr>
          <p:cNvPr id="6" name="Picture 5" descr="grafik_s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120640" cy="2275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Hasil: Baseline vs SMOTE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Dievaluasi pada 1.409 data test ASLI (tidak seimbang)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011680"/>
          <a:ext cx="49377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/>
                <a:gridCol w="987552"/>
                <a:gridCol w="987552"/>
                <a:gridCol w="987552"/>
                <a:gridCol w="987552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Akurasi</a:t>
                      </a:r>
                    </a:p>
                  </a:txBody>
                  <a:tcPr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Presisi</a:t>
                      </a:r>
                    </a:p>
                  </a:txBody>
                  <a:tcPr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E539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F3864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F3864"/>
                          </a:solidFill>
                          <a:latin typeface="Calibri"/>
                        </a:defRPr>
                      </a:pPr>
                      <a:r>
                        <a:t>0.807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F3864"/>
                          </a:solidFill>
                          <a:latin typeface="Calibri"/>
                        </a:defRPr>
                      </a:pPr>
                      <a:r>
                        <a:t>0.607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F3864"/>
                          </a:solidFill>
                          <a:latin typeface="Calibri"/>
                        </a:defRPr>
                      </a:pPr>
                      <a:r>
                        <a:t>0.66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F3864"/>
                          </a:solidFill>
                          <a:latin typeface="Calibri"/>
                        </a:defRPr>
                      </a:pPr>
                      <a:r>
                        <a:t>0.561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F3864"/>
                          </a:solidFill>
                          <a:latin typeface="Calibri"/>
                        </a:defRPr>
                      </a:pPr>
                      <a:r>
                        <a:t>SMOTE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F3864"/>
                          </a:solidFill>
                          <a:latin typeface="Calibri"/>
                        </a:defRPr>
                      </a:pPr>
                      <a:r>
                        <a:t>0.738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F3864"/>
                          </a:solidFill>
                          <a:latin typeface="Calibri"/>
                        </a:defRPr>
                      </a:pPr>
                      <a:r>
                        <a:t>0.59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F3864"/>
                          </a:solidFill>
                          <a:latin typeface="Calibri"/>
                        </a:defRPr>
                      </a:pPr>
                      <a:r>
                        <a:t>0.505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1F3864"/>
                          </a:solidFill>
                          <a:latin typeface="Calibri"/>
                        </a:defRPr>
                      </a:pPr>
                      <a:r>
                        <a:t>0.709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023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SMOTE menaikkan recall 0.56 → 0.71 (menangkap lebih banyak churn), tapi precision turun 0.66 → 0.51 (lebih banyak false alarm).</a:t>
            </a:r>
          </a:p>
        </p:txBody>
      </p:sp>
      <p:pic>
        <p:nvPicPr>
          <p:cNvPr id="8" name="Picture 7" descr="grafik_metr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Bedah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Angka di balik metrik — pada 374 pelanggan yang benar-benar churn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 i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Baseline: 210 churn tertangkap, 164 lolos diam-diam.</a:t>
            </a:r>
          </a:p>
          <a:p>
            <a:pPr>
              <a:spcBef>
                <a:spcPts val="600"/>
              </a:spcBef>
              <a:defRPr sz="2100" b="1">
                <a:solidFill>
                  <a:srgbClr val="FFC000"/>
                </a:solidFill>
                <a:latin typeface="Calibri"/>
              </a:defRPr>
            </a:pPr>
            <a:r>
              <a:t>SMOTE: 265 churn tertangkap, hanya 109 yang lolos.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Harga yang dibayar: false alarm naik dari 108 → 260.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Untuk bisnis, melewatkan churn (lolos diam-diam) lebih mahal daripada salah mengingatkan — maka recall lebih penting.</a:t>
            </a:r>
          </a:p>
        </p:txBody>
      </p:sp>
      <p:pic>
        <p:nvPicPr>
          <p:cNvPr id="6" name="Picture 5" descr="grafik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120640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Bedah Kode (1): Split &amp; Imputasi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Preprocessing yang aman — test tidak boleh bocor ke proses belajar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852160" cy="4480560"/>
          </a:xfrm>
          <a:prstGeom prst="roundRect">
            <a:avLst/>
          </a:prstGeom>
          <a:solidFill>
            <a:srgbClr val="14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C000"/>
                </a:solidFill>
                <a:latin typeface="Consolas"/>
              </a:defRPr>
            </a:pPr>
            <a:r>
              <a:t># 1. Split DULU — paling awal (stratified)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X_train, X_test, y_train, y_test = train_test_split(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    X, y, test_size=0.2, stratify=y, random_state=42)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200" b="0">
                <a:solidFill>
                  <a:srgbClr val="FFC000"/>
                </a:solidFill>
                <a:latin typeface="Consolas"/>
              </a:defRPr>
            </a:pPr>
            <a:r>
              <a:t># 2. KNN Imputer — hanya belajar dari train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imputer = KNNImputer(n_neighbors=5)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X_train[num_cols] = imputer.fit_transform(X_train[num_cols])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X_test[num_cols]  = imputer.transform(X_test[num_cols])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200" b="0">
                <a:solidFill>
                  <a:srgbClr val="FFC000"/>
                </a:solidFill>
                <a:latin typeface="Consolas"/>
              </a:defRPr>
            </a:pPr>
            <a:r>
              <a:t># 3. Scaling — hanya belajar dari train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scaler = StandardScaler()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X_train[num_cols] = scaler.fit_transform(X_train[num_cols])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X_test[num_cols]  = scaler.transform(X_test[num_cols])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train_test_split: bagi 80% latih / 20% uji; stratify menjaga proporsi churn di kedua sisi.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Pola fit_transform → transform adalah inti "aturan aman".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KNNImputer(k=5): 11 nilai kosong ditebak dari 5 pelanggan paling mirip.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StandardScaler: menyamakan skala angka agar model konvergen.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Bedah Kode (2): Outlier &amp; SMOTE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Deteksi anomali, lalu seimbangkan kelas — keduanya hanya di 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852160" cy="4480560"/>
          </a:xfrm>
          <a:prstGeom prst="roundRect">
            <a:avLst/>
          </a:prstGeom>
          <a:solidFill>
            <a:srgbClr val="14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C000"/>
                </a:solidFill>
                <a:latin typeface="Consolas"/>
              </a:defRPr>
            </a:pPr>
            <a:r>
              <a:t># 4. Deteksi outlier — di train saja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iso = IsolationForest(contamination=0.02, random_state=42)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is_outlier = iso.fit_predict(X_train)  # -1 = outlier</a:t>
            </a:r>
          </a:p>
          <a:p>
            <a:pPr>
              <a:spcBef>
                <a:spcPts val="200"/>
              </a:spcBef>
              <a:defRPr sz="1200" b="0">
                <a:solidFill>
                  <a:srgbClr val="FFC000"/>
                </a:solidFill>
                <a:latin typeface="Consolas"/>
              </a:defRPr>
            </a:pPr>
            <a:r>
              <a:t># → 113 baris (2%): tenure panjang → DIPERTAHANKAN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200" b="0">
                <a:solidFill>
                  <a:srgbClr val="FFC000"/>
                </a:solidFill>
                <a:latin typeface="Consolas"/>
              </a:defRPr>
            </a:pPr>
            <a:r>
              <a:t># 5. SMOTE — HANYA pada train!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smote = SMOTE(random_state=42)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X_train_sm, y_train_sm = smote.fit_resample(X_train, y_train)</a:t>
            </a:r>
          </a:p>
          <a:p>
            <a:pPr>
              <a:spcBef>
                <a:spcPts val="200"/>
              </a:spcBef>
              <a:defRPr sz="1200" b="0">
                <a:solidFill>
                  <a:srgbClr val="FFC000"/>
                </a:solidFill>
                <a:latin typeface="Consolas"/>
              </a:defRPr>
            </a:pPr>
            <a:r>
              <a:t># → 4139 : 4139, kelas jadi seimbang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IsolationForest memisahkan 2% data paling "aneh" (label -1).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Keputusan domain: outlier = pelanggan loyal, bukan error — jangan dihapus.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SMOTE membuat sampel sintetis kelas minoritas hingga seimbang.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Hanya di train — kalau di test, evaluasi jadi tidak jujur.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Bedah Kode (3): Training &amp;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Algoritma sama, data latih beda — diuji di test asli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852160" cy="4480560"/>
          </a:xfrm>
          <a:prstGeom prst="roundRect">
            <a:avLst/>
          </a:prstGeom>
          <a:solidFill>
            <a:srgbClr val="14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FC000"/>
                </a:solidFill>
                <a:latin typeface="Consolas"/>
              </a:defRPr>
            </a:pPr>
            <a:r>
              <a:t># 6. Latih dua model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model_base  = LogisticRegression(max_iter=2000).fit(X_train, y_train)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model_smote = LogisticRegression(max_iter=2000).fit(X_train_sm, y_train_sm)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defRPr sz="1200" b="0">
                <a:solidFill>
                  <a:srgbClr val="FFC000"/>
                </a:solidFill>
                <a:latin typeface="Consolas"/>
              </a:defRPr>
            </a:pPr>
            <a:r>
              <a:t># 7. Evaluasi — selalu di test ASLI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y_pred = model.predict(X_test)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accuracy_score(y_test, y_pred)  # 0.807 vs 0.738</a:t>
            </a:r>
          </a:p>
          <a:p>
            <a:pPr>
              <a:spcBef>
                <a:spcPts val="200"/>
              </a:spcBef>
              <a:defRPr sz="1200" b="0">
                <a:solidFill>
                  <a:srgbClr val="E8E8E8"/>
                </a:solidFill>
                <a:latin typeface="Consolas"/>
              </a:defRPr>
            </a:pPr>
            <a:r>
              <a:t>f1_score(y_test, y_pred)        # 0.607 vs 0.590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480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max_iter=2000 memastikan optimasi konvergen.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Bedanya hanya data latih: SMOTE vs tidak.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Evaluasi di test asli (tidak seimbang) → hasil jujur seperti kondisi nyata.</a:t>
            </a:r>
          </a:p>
          <a:p>
            <a:pPr>
              <a:spcBef>
                <a:spcPts val="10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SMOTE menang recall (0.71 vs 0.56): lebih banyak churn tertangkap.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914400"/>
          </a:xfrm>
          <a:prstGeom prst="rect">
            <a:avLst/>
          </a:prstGeom>
          <a:solidFill>
            <a:srgbClr val="4C9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FC000"/>
                </a:solidFill>
                <a:latin typeface="Calibri"/>
              </a:defRPr>
            </a:pPr>
            <a:r>
              <a:t>Mengubah data bermasalah menjadi masukan model yang dapat dipercaya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  <a:latin typeface="Calibri"/>
              </a:defRPr>
            </a:pPr>
            <a:r>
              <a:t>1. Diagnosis dulu, teknik kemudian.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   11 missing ternyata pelanggan baru → imputasi KNN. 113 outlier ternyata pelanggan loyal → dipertahankan.</a:t>
            </a:r>
          </a:p>
          <a:p>
            <a:pPr>
              <a:spcBef>
                <a:spcPts val="600"/>
              </a:spcBef>
              <a:defRPr sz="2100" b="1">
                <a:solidFill>
                  <a:srgbClr val="FFFFFF"/>
                </a:solidFill>
                <a:latin typeface="Calibri"/>
              </a:defRPr>
            </a:pPr>
            <a:r>
              <a:t>2. Aturan aman tidak bisa ditawar.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   Split → fit di train → SMOTE hanya di train → evaluasi di test asli.</a:t>
            </a:r>
          </a:p>
          <a:p>
            <a:pPr>
              <a:spcBef>
                <a:spcPts val="600"/>
              </a:spcBef>
              <a:defRPr sz="2100" b="1">
                <a:solidFill>
                  <a:srgbClr val="FFFFFF"/>
                </a:solidFill>
                <a:latin typeface="Calibri"/>
              </a:defRPr>
            </a:pPr>
            <a:r>
              <a:t>3. Akurasi bisa menipu.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   Baseline "terlihat" menang (0.807 vs 0.738), padahal melewatkan lebih banyak churn. Pilih metrik sesuai tujuan: recall untuk kasus churn.</a:t>
            </a:r>
          </a:p>
          <a:p>
            <a:pPr>
              <a:spcBef>
                <a:spcPts val="600"/>
              </a:spcBef>
              <a:defRPr sz="2100" b="1">
                <a:solidFill>
                  <a:srgbClr val="FFFFFF"/>
                </a:solidFill>
                <a:latin typeface="Calibri"/>
              </a:defRPr>
            </a:pPr>
            <a:r>
              <a:t>4. Tidak ada teknik yang selalu benar.</a:t>
            </a:r>
          </a:p>
          <a:p>
            <a:pPr>
              <a:spcBef>
                <a:spcPts val="600"/>
              </a:spcBef>
              <a:defRPr sz="2100" b="0">
                <a:solidFill>
                  <a:srgbClr val="FFFFFF"/>
                </a:solidFill>
                <a:latin typeface="Calibri"/>
              </a:defRPr>
            </a:pPr>
            <a:r>
              <a:t>   Setiap keputusan mengikuti pola data dan konteks domain.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FC000"/>
                </a:solidFill>
                <a:latin typeface="Calibri"/>
              </a:defRPr>
            </a:pPr>
            <a:r>
              <a:t>Kelompok 3 —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Frisilia Elfira Maharani  •  Febyana Mulia Putri  •  Wanda Nurhasanah</a:t>
            </a:r>
            <a:br/>
            <a:r>
              <a:t>Muhammad Revolvere Rey A  •  Ahmad Dandi Subhani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